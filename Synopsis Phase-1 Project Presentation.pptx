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3640" r:id="rId2"/>
    <p:sldId id="3694" r:id="rId3"/>
    <p:sldId id="3697" r:id="rId4"/>
    <p:sldId id="3700" r:id="rId5"/>
    <p:sldId id="3708" r:id="rId6"/>
    <p:sldId id="3701" r:id="rId7"/>
    <p:sldId id="3702" r:id="rId8"/>
    <p:sldId id="3706" r:id="rId9"/>
    <p:sldId id="3707" r:id="rId10"/>
    <p:sldId id="364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keshi Parnami" initials="SP" lastIdx="1" clrIdx="0">
    <p:extLst>
      <p:ext uri="{19B8F6BF-5375-455C-9EA6-DF929625EA0E}">
        <p15:presenceInfo xmlns:p15="http://schemas.microsoft.com/office/powerpoint/2012/main" userId="S::sparnami@upes.ac.in::61686955-4e93-4ddb-a545-ba82f91d1f9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36FF"/>
    <a:srgbClr val="4AAEFC"/>
    <a:srgbClr val="434ACF"/>
    <a:srgbClr val="BF2CFE"/>
    <a:srgbClr val="46B0FA"/>
    <a:srgbClr val="27D4F8"/>
    <a:srgbClr val="D9FF00"/>
    <a:srgbClr val="E0E600"/>
    <a:srgbClr val="0B2F3E"/>
    <a:srgbClr val="B1B1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13" autoAdjust="0"/>
    <p:restoredTop sz="96327"/>
  </p:normalViewPr>
  <p:slideViewPr>
    <p:cSldViewPr snapToGrid="0" snapToObjects="1">
      <p:cViewPr varScale="1">
        <p:scale>
          <a:sx n="82" d="100"/>
          <a:sy n="82" d="100"/>
        </p:scale>
        <p:origin x="56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E9D15D-1C13-CC45-BE09-4D54E9A973B4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93A8CF-95A7-924D-878B-183116A25D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962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C73FB-2D72-9945-BF45-5347690BB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3C615-989D-9D44-8501-FCE01FCED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E5F24-53F9-054C-A9F8-3DCFACAB98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3D9895-3AFC-9E49-BB6B-D5AF81433D95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E7FB8-C70E-584A-A086-8852BD639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5C156-1A78-7A4C-AB86-BCA1B1785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F45BD75-B1E6-DE4E-8CD3-58B4BE092B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71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4240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3F520-AAB7-4D20-958E-A456239933B0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316BF-8A16-4F24-9F8F-9D40354D5A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340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2C0DC26-5D78-6140-BF89-41378C4365C1}"/>
              </a:ext>
            </a:extLst>
          </p:cNvPr>
          <p:cNvSpPr/>
          <p:nvPr userDrawn="1"/>
        </p:nvSpPr>
        <p:spPr>
          <a:xfrm>
            <a:off x="98853" y="86497"/>
            <a:ext cx="11998411" cy="6685005"/>
          </a:xfrm>
          <a:prstGeom prst="rect">
            <a:avLst/>
          </a:prstGeom>
          <a:noFill/>
          <a:ln w="28575">
            <a:solidFill>
              <a:srgbClr val="46B0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5EF86C0-A360-484B-B595-7CC69137B5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12813" r="7454"/>
          <a:stretch/>
        </p:blipFill>
        <p:spPr>
          <a:xfrm>
            <a:off x="10718090" y="127821"/>
            <a:ext cx="1336257" cy="54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464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E8895C2-828B-934B-8B58-BBC23AD3665A}"/>
              </a:ext>
            </a:extLst>
          </p:cNvPr>
          <p:cNvSpPr/>
          <p:nvPr/>
        </p:nvSpPr>
        <p:spPr>
          <a:xfrm>
            <a:off x="10668000" y="150471"/>
            <a:ext cx="1381246" cy="682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icture containing text, sign, outdoor&#10;&#10;Description automatically generated">
            <a:extLst>
              <a:ext uri="{FF2B5EF4-FFF2-40B4-BE49-F238E27FC236}">
                <a16:creationId xmlns:a16="http://schemas.microsoft.com/office/drawing/2014/main" id="{35C12C04-5CEF-8448-B70C-56FE6AD03C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829" y="126108"/>
            <a:ext cx="876170" cy="1491678"/>
          </a:xfrm>
          <a:prstGeom prst="rect">
            <a:avLst/>
          </a:prstGeom>
        </p:spPr>
      </p:pic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2F3CE5-A64B-4B6C-9275-01E87181F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017" y="143688"/>
            <a:ext cx="4564228" cy="147409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756262" y="1532487"/>
            <a:ext cx="67012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/>
              <a:t>        Minor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0999" y="2560320"/>
            <a:ext cx="99485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/>
              <a:t>Title: </a:t>
            </a:r>
            <a:r>
              <a:rPr lang="en-US" sz="3200" dirty="0"/>
              <a:t>ARES - Autonomous Reliability Engineering System</a:t>
            </a:r>
            <a:endParaRPr lang="en-IN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304829" y="4833797"/>
            <a:ext cx="366068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Presented by:</a:t>
            </a:r>
          </a:p>
          <a:p>
            <a:r>
              <a:rPr lang="en-IN" sz="2000" dirty="0"/>
              <a:t>R2142231379 –Nitanshu Tak</a:t>
            </a:r>
          </a:p>
          <a:p>
            <a:r>
              <a:rPr lang="en-IN" sz="2000" dirty="0"/>
              <a:t>R2142230722 –Aakriti Dhawan </a:t>
            </a:r>
          </a:p>
          <a:p>
            <a:r>
              <a:rPr lang="en-IN" sz="2000" dirty="0"/>
              <a:t>R2142230892 –</a:t>
            </a:r>
            <a:r>
              <a:rPr lang="en-IN" sz="2000" dirty="0" err="1"/>
              <a:t>Sristee</a:t>
            </a:r>
            <a:r>
              <a:rPr lang="en-IN" sz="2000" dirty="0"/>
              <a:t> </a:t>
            </a:r>
            <a:r>
              <a:rPr lang="en-IN" sz="2000" dirty="0" err="1"/>
              <a:t>Bhindwar</a:t>
            </a:r>
            <a:endParaRPr lang="en-IN" sz="2000" dirty="0"/>
          </a:p>
          <a:p>
            <a:r>
              <a:rPr lang="en-IN" sz="2000" dirty="0"/>
              <a:t>R2142230888 –Aarohi Jaiswal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2743" y="5003074"/>
            <a:ext cx="2717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Mentored By: Mr. Abhishek Roshan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43A3A0-F9F5-2702-D2C7-4B229DCB95C0}"/>
              </a:ext>
            </a:extLst>
          </p:cNvPr>
          <p:cNvSpPr txBox="1"/>
          <p:nvPr/>
        </p:nvSpPr>
        <p:spPr>
          <a:xfrm>
            <a:off x="2043404" y="3144434"/>
            <a:ext cx="75144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AI-Powered Self-Healing Microservices Platform for Cloud Applications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627799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lang="en-IN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BB8BD7-3A99-AD16-5CFE-37664241DA1E}"/>
              </a:ext>
            </a:extLst>
          </p:cNvPr>
          <p:cNvSpPr txBox="1"/>
          <p:nvPr/>
        </p:nvSpPr>
        <p:spPr>
          <a:xfrm>
            <a:off x="643812" y="1222311"/>
            <a:ext cx="1072087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🔹 Introduction</a:t>
            </a:r>
          </a:p>
          <a:p>
            <a:r>
              <a:rPr lang="en-US" sz="2400" dirty="0"/>
              <a:t>Overview of ARES, its purpose, and the need for autonomous reliability in modern cloud systems.</a:t>
            </a:r>
          </a:p>
          <a:p>
            <a:r>
              <a:rPr lang="en-US" sz="2400" b="1" dirty="0"/>
              <a:t>🔹 Literature Review</a:t>
            </a:r>
          </a:p>
          <a:p>
            <a:r>
              <a:rPr lang="en-US" sz="2400" dirty="0"/>
              <a:t>Study of existing work in Site Reliability Engineering, self-healing systems, and ML-based anomaly detection.</a:t>
            </a:r>
          </a:p>
          <a:p>
            <a:r>
              <a:rPr lang="en-US" sz="2400" b="1" dirty="0"/>
              <a:t>🔹 Objectives</a:t>
            </a:r>
          </a:p>
          <a:p>
            <a:r>
              <a:rPr lang="en-US" sz="2400" dirty="0"/>
              <a:t>Goals of building a self-healing, AI-driven microservices platform with automated monitoring and recovery.</a:t>
            </a:r>
          </a:p>
          <a:p>
            <a:r>
              <a:rPr lang="en-US" sz="2400" b="1" dirty="0"/>
              <a:t>🔹 Methodology</a:t>
            </a:r>
          </a:p>
          <a:p>
            <a:r>
              <a:rPr lang="en-US" sz="2400" dirty="0"/>
              <a:t>System architecture, tools used, DevOps pipeline, agent framework, ML integration, and self-healing workflow.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79729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22500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IN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966651" y="903983"/>
            <a:ext cx="48369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Technical Concepts (Algorithms) Used</a:t>
            </a:r>
          </a:p>
          <a:p>
            <a:r>
              <a:rPr lang="en-IN" dirty="0"/>
              <a:t>- Microservices architecture</a:t>
            </a:r>
          </a:p>
          <a:p>
            <a:r>
              <a:rPr lang="en-IN" dirty="0"/>
              <a:t>- Docker containerization</a:t>
            </a:r>
          </a:p>
          <a:p>
            <a:r>
              <a:rPr lang="en-IN" dirty="0"/>
              <a:t>- CI/CD automation</a:t>
            </a:r>
          </a:p>
          <a:p>
            <a:r>
              <a:rPr lang="en-IN" dirty="0"/>
              <a:t>- Monitoring &amp; metrics analysis</a:t>
            </a:r>
          </a:p>
          <a:p>
            <a:r>
              <a:rPr lang="en-IN" dirty="0"/>
              <a:t>- ML anomaly detection (Isolation Forest)</a:t>
            </a:r>
          </a:p>
          <a:p>
            <a:r>
              <a:rPr lang="en-IN" dirty="0"/>
              <a:t>- Self-healing recovery logic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B14116-2D60-4A82-9A93-F3AA6E3D9B53}"/>
              </a:ext>
            </a:extLst>
          </p:cNvPr>
          <p:cNvSpPr txBox="1"/>
          <p:nvPr/>
        </p:nvSpPr>
        <p:spPr>
          <a:xfrm>
            <a:off x="7684692" y="899495"/>
            <a:ext cx="48369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Area of Application</a:t>
            </a:r>
          </a:p>
          <a:p>
            <a:r>
              <a:rPr lang="en-US" dirty="0"/>
              <a:t>- E-commerce platforms</a:t>
            </a:r>
          </a:p>
          <a:p>
            <a:r>
              <a:rPr lang="en-US" dirty="0"/>
              <a:t>- Streaming services like </a:t>
            </a:r>
            <a:r>
              <a:rPr lang="en-US" b="1" dirty="0"/>
              <a:t>Netflix</a:t>
            </a:r>
            <a:endParaRPr lang="en-US" dirty="0"/>
          </a:p>
          <a:p>
            <a:r>
              <a:rPr lang="en-US" dirty="0"/>
              <a:t>- Banking systems</a:t>
            </a:r>
          </a:p>
          <a:p>
            <a:r>
              <a:rPr lang="en-US" dirty="0"/>
              <a:t>- SaaS cloud platforms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6A9FCF-8A63-7D05-1180-2C6115466CF2}"/>
              </a:ext>
            </a:extLst>
          </p:cNvPr>
          <p:cNvSpPr txBox="1"/>
          <p:nvPr/>
        </p:nvSpPr>
        <p:spPr>
          <a:xfrm>
            <a:off x="845353" y="4622690"/>
            <a:ext cx="48369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Problem Statement</a:t>
            </a:r>
          </a:p>
          <a:p>
            <a:r>
              <a:rPr lang="en-US" dirty="0"/>
              <a:t>- Build a cloud system that can:</a:t>
            </a:r>
          </a:p>
          <a:p>
            <a:r>
              <a:rPr lang="en-US" dirty="0"/>
              <a:t>- Detect failures</a:t>
            </a:r>
          </a:p>
          <a:p>
            <a:r>
              <a:rPr lang="en-US" dirty="0"/>
              <a:t>- Predict anomalies</a:t>
            </a:r>
          </a:p>
          <a:p>
            <a:r>
              <a:rPr lang="en-US" dirty="0"/>
              <a:t>- Recover services automatically</a:t>
            </a:r>
          </a:p>
          <a:p>
            <a:r>
              <a:rPr lang="en-US" dirty="0"/>
              <a:t>- Reduce downtime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A6B7E5-DC7B-333C-911B-6E636B61492F}"/>
              </a:ext>
            </a:extLst>
          </p:cNvPr>
          <p:cNvSpPr txBox="1"/>
          <p:nvPr/>
        </p:nvSpPr>
        <p:spPr>
          <a:xfrm>
            <a:off x="3385145" y="3048542"/>
            <a:ext cx="50683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Motivation</a:t>
            </a:r>
          </a:p>
          <a:p>
            <a:r>
              <a:rPr lang="en-US" dirty="0"/>
              <a:t>- Cloud apps fail due to traffic spikes,  crashes, and resource overload.</a:t>
            </a:r>
            <a:br>
              <a:rPr lang="en-US" dirty="0"/>
            </a:br>
            <a:r>
              <a:rPr lang="en-US" dirty="0"/>
              <a:t>- ARES enables </a:t>
            </a:r>
            <a:r>
              <a:rPr lang="en-US" b="1" dirty="0"/>
              <a:t>automatic detection and recovery</a:t>
            </a:r>
            <a:r>
              <a:rPr lang="en-US" dirty="0"/>
              <a:t> without human intervention.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EE88B3-DECD-68C4-645C-D438BD4330D9}"/>
              </a:ext>
            </a:extLst>
          </p:cNvPr>
          <p:cNvSpPr txBox="1"/>
          <p:nvPr/>
        </p:nvSpPr>
        <p:spPr>
          <a:xfrm>
            <a:off x="7684692" y="4663878"/>
            <a:ext cx="48369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Dataset and Input Format</a:t>
            </a:r>
          </a:p>
          <a:p>
            <a:r>
              <a:rPr lang="en-US" dirty="0"/>
              <a:t>- System metrics used:</a:t>
            </a:r>
          </a:p>
          <a:p>
            <a:r>
              <a:rPr lang="en-US" dirty="0"/>
              <a:t>- CPU usage</a:t>
            </a:r>
          </a:p>
          <a:p>
            <a:r>
              <a:rPr lang="en-US" dirty="0"/>
              <a:t>- Memory usage</a:t>
            </a:r>
          </a:p>
          <a:p>
            <a:r>
              <a:rPr lang="en-US" dirty="0"/>
              <a:t>- Response time</a:t>
            </a:r>
          </a:p>
          <a:p>
            <a:r>
              <a:rPr lang="en-US" dirty="0"/>
              <a:t>- Service health logs</a:t>
            </a:r>
          </a:p>
        </p:txBody>
      </p:sp>
    </p:spTree>
    <p:extLst>
      <p:ext uri="{BB962C8B-B14F-4D97-AF65-F5344CB8AC3E}">
        <p14:creationId xmlns:p14="http://schemas.microsoft.com/office/powerpoint/2010/main" val="480493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23448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1123405" y="1374033"/>
            <a:ext cx="9901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D13591-ED66-18D1-C3B3-0BBA9E080EA4}"/>
              </a:ext>
            </a:extLst>
          </p:cNvPr>
          <p:cNvSpPr txBox="1"/>
          <p:nvPr/>
        </p:nvSpPr>
        <p:spPr>
          <a:xfrm>
            <a:off x="518160" y="1075453"/>
            <a:ext cx="1115568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Cite Related Work</a:t>
            </a:r>
          </a:p>
          <a:p>
            <a:r>
              <a:rPr lang="en-US" sz="2000" dirty="0"/>
              <a:t>Research in </a:t>
            </a:r>
            <a:r>
              <a:rPr lang="en-US" sz="2000" b="1" dirty="0"/>
              <a:t>Site Reliability Engineering (SRE)</a:t>
            </a:r>
            <a:r>
              <a:rPr lang="en-US" sz="2000" dirty="0"/>
              <a:t> focuses on maintaining system uptime through monitoring, alerting, and incident management, but recovery often depends on human intervention.</a:t>
            </a:r>
          </a:p>
          <a:p>
            <a:r>
              <a:rPr lang="en-US" sz="2000" b="1" dirty="0"/>
              <a:t>Self-healing and autonomic computing</a:t>
            </a:r>
            <a:r>
              <a:rPr lang="en-US" sz="2000" dirty="0"/>
              <a:t> introduce systems that can detect failures and trigger automated responses using control loops like MAPE-K.</a:t>
            </a:r>
          </a:p>
          <a:p>
            <a:r>
              <a:rPr lang="en-US" sz="2000" dirty="0"/>
              <a:t>Modern </a:t>
            </a:r>
            <a:r>
              <a:rPr lang="en-US" sz="2000" b="1" dirty="0"/>
              <a:t>observability tools</a:t>
            </a:r>
            <a:r>
              <a:rPr lang="en-US" sz="2000" dirty="0"/>
              <a:t> (Prometheus, ELK, Grafana) provide system visibility but mainly generate alerts rather than executing recovery.</a:t>
            </a:r>
          </a:p>
          <a:p>
            <a:r>
              <a:rPr lang="en-US" sz="2000" dirty="0"/>
              <a:t>Recent work in </a:t>
            </a:r>
            <a:r>
              <a:rPr lang="en-US" sz="2000" b="1" dirty="0"/>
              <a:t>ML-based anomaly detection</a:t>
            </a:r>
            <a:r>
              <a:rPr lang="en-US" sz="2000" dirty="0"/>
              <a:t> uses models like Isolation Forest to identify abnormal system behavior, improving failure prediction.</a:t>
            </a:r>
            <a:br>
              <a:rPr lang="en-US" sz="2000" dirty="0"/>
            </a:br>
            <a:endParaRPr lang="en-US" sz="2000" dirty="0"/>
          </a:p>
          <a:p>
            <a:r>
              <a:rPr lang="en-US" sz="2000" b="1" dirty="0">
                <a:solidFill>
                  <a:srgbClr val="FF0000"/>
                </a:solidFill>
              </a:rPr>
              <a:t>Research Gap</a:t>
            </a:r>
          </a:p>
          <a:p>
            <a:r>
              <a:rPr lang="en-US" sz="2000" dirty="0"/>
              <a:t>Most existing systems can </a:t>
            </a:r>
            <a:r>
              <a:rPr lang="en-US" sz="2000" b="1" dirty="0"/>
              <a:t>monitor or predict issues</a:t>
            </a:r>
            <a:r>
              <a:rPr lang="en-US" sz="2000" dirty="0"/>
              <a:t>, but they lack integration with </a:t>
            </a:r>
            <a:r>
              <a:rPr lang="en-US" sz="2000" b="1" dirty="0"/>
              <a:t>autonomous decision-making and automated healing</a:t>
            </a:r>
            <a:r>
              <a:rPr lang="en-US" sz="2000" dirty="0"/>
              <a:t>.</a:t>
            </a:r>
          </a:p>
          <a:p>
            <a:r>
              <a:rPr lang="en-US" sz="2000" b="1" dirty="0"/>
              <a:t>ARES bridges this gap</a:t>
            </a:r>
            <a:r>
              <a:rPr lang="en-US" sz="2000" dirty="0"/>
              <a:t> by combining monitoring, ML-based anomaly detection, and self-healing actions into one unified reliability platform.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963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47035-4528-DD8E-3EBD-3CCB1C21C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711718-951F-8E40-8E75-FC1037557A1D}"/>
              </a:ext>
            </a:extLst>
          </p:cNvPr>
          <p:cNvSpPr txBox="1"/>
          <p:nvPr/>
        </p:nvSpPr>
        <p:spPr>
          <a:xfrm>
            <a:off x="23448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118F98-2DAD-082E-4F40-C1F9AEAA350B}"/>
              </a:ext>
            </a:extLst>
          </p:cNvPr>
          <p:cNvSpPr txBox="1"/>
          <p:nvPr/>
        </p:nvSpPr>
        <p:spPr>
          <a:xfrm>
            <a:off x="385665" y="872212"/>
            <a:ext cx="1142067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SWOT Analysis</a:t>
            </a:r>
          </a:p>
          <a:p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Strengths</a:t>
            </a:r>
          </a:p>
          <a:p>
            <a:r>
              <a:rPr lang="en-US" sz="2000" dirty="0"/>
              <a:t>Integrates microservices, DevOps automation, and ML-driven anomaly detection into a unified reliability platform.</a:t>
            </a:r>
            <a:br>
              <a:rPr lang="en-US" sz="2000" dirty="0"/>
            </a:br>
            <a:r>
              <a:rPr lang="en-US" sz="2000" dirty="0"/>
              <a:t>Implements autonomous self-healing using monitoring agents, decision logic, and container-level recovery actions.</a:t>
            </a:r>
            <a:br>
              <a:rPr lang="en-US" sz="2000" dirty="0"/>
            </a:br>
            <a:r>
              <a:rPr lang="en-US" sz="2000" dirty="0"/>
              <a:t>Scalable cloud-native architecture with CI/CD, observability stack, and fault isolation.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Weaknesses</a:t>
            </a:r>
          </a:p>
          <a:p>
            <a:r>
              <a:rPr lang="en-US" sz="2000" dirty="0"/>
              <a:t>High system complexity due to multi-layer integration (ML, agents, microservices, monitoring).</a:t>
            </a:r>
            <a:br>
              <a:rPr lang="en-US" sz="2000" dirty="0"/>
            </a:br>
            <a:r>
              <a:rPr lang="en-US" sz="2000" dirty="0"/>
              <a:t>Performance depends on accurate anomaly detection models and sufficient cloud resources.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Opportunities</a:t>
            </a:r>
          </a:p>
          <a:p>
            <a:r>
              <a:rPr lang="en-US" sz="2000" dirty="0"/>
              <a:t>Foundation for AIOps, autonomous cloud infrastructure, and next-generation SRE systems.</a:t>
            </a:r>
            <a:br>
              <a:rPr lang="en-US" sz="2000" dirty="0"/>
            </a:br>
            <a:r>
              <a:rPr lang="en-US" sz="2000" dirty="0"/>
              <a:t>Applicable to high-availability domains like SaaS, fintech, streaming, and distributed platforms.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Threats</a:t>
            </a:r>
          </a:p>
          <a:p>
            <a:r>
              <a:rPr lang="en-US" sz="2000" dirty="0"/>
              <a:t>Incorrect ML predictions may trigger improper recovery actions.</a:t>
            </a:r>
            <a:br>
              <a:rPr lang="en-US" sz="2000" dirty="0"/>
            </a:br>
            <a:r>
              <a:rPr lang="en-US" sz="2000" dirty="0"/>
              <a:t>Security and stability risks in automated remediation of distributed systems.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032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  <a:endParaRPr lang="en-IN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1071154" y="1407950"/>
            <a:ext cx="990100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Objective: </a:t>
            </a:r>
            <a:r>
              <a:rPr lang="en-US" sz="2800" dirty="0"/>
              <a:t>To design and implement a </a:t>
            </a:r>
            <a:r>
              <a:rPr lang="en-US" sz="2800" b="1" dirty="0"/>
              <a:t>cloud-native self-healing application platform</a:t>
            </a:r>
            <a:r>
              <a:rPr lang="en-US" sz="2800" dirty="0"/>
              <a:t> that:</a:t>
            </a:r>
          </a:p>
          <a:p>
            <a:endParaRPr lang="en-US" sz="2800" dirty="0"/>
          </a:p>
          <a:p>
            <a:r>
              <a:rPr lang="en-US" sz="2800" dirty="0"/>
              <a:t>- Continuously monitors system performance</a:t>
            </a:r>
          </a:p>
          <a:p>
            <a:r>
              <a:rPr lang="en-US" sz="2800" dirty="0"/>
              <a:t>- Detects failures and anomalies automatically</a:t>
            </a:r>
          </a:p>
          <a:p>
            <a:r>
              <a:rPr lang="en-US" sz="2800" dirty="0"/>
              <a:t>- Uses ML to identify abnormal </a:t>
            </a:r>
            <a:r>
              <a:rPr lang="en-US" sz="2800" dirty="0" err="1"/>
              <a:t>behaviour</a:t>
            </a:r>
            <a:endParaRPr lang="en-US" sz="2800" dirty="0"/>
          </a:p>
          <a:p>
            <a:r>
              <a:rPr lang="en-US" sz="2800" dirty="0"/>
              <a:t>- Executes recovery actions without human intervention</a:t>
            </a:r>
          </a:p>
          <a:p>
            <a:r>
              <a:rPr lang="en-US" sz="2800" dirty="0"/>
              <a:t>- Minimizes downtime and improves system reliability</a:t>
            </a:r>
          </a:p>
        </p:txBody>
      </p:sp>
    </p:spTree>
    <p:extLst>
      <p:ext uri="{BB962C8B-B14F-4D97-AF65-F5344CB8AC3E}">
        <p14:creationId xmlns:p14="http://schemas.microsoft.com/office/powerpoint/2010/main" val="2314005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lang="en-IN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560511" y="833401"/>
            <a:ext cx="943257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Reference Software Model</a:t>
            </a:r>
          </a:p>
          <a:p>
            <a:r>
              <a:rPr lang="en-IN" dirty="0"/>
              <a:t>ARES follows an </a:t>
            </a:r>
            <a:r>
              <a:rPr lang="en-IN" b="1" dirty="0"/>
              <a:t>Autonomous Reliability Model</a:t>
            </a:r>
            <a:r>
              <a:rPr lang="en-IN" dirty="0"/>
              <a:t>:</a:t>
            </a:r>
          </a:p>
          <a:p>
            <a:r>
              <a:rPr lang="en-IN" b="1" dirty="0"/>
              <a:t>Monitor → </a:t>
            </a:r>
            <a:r>
              <a:rPr lang="en-IN" b="1" dirty="0" err="1"/>
              <a:t>Analyze</a:t>
            </a:r>
            <a:r>
              <a:rPr lang="en-IN" b="1" dirty="0"/>
              <a:t> → Detect → Decide → Heal → Log</a:t>
            </a:r>
            <a:endParaRPr lang="en-IN" dirty="0"/>
          </a:p>
          <a:p>
            <a:r>
              <a:rPr lang="en-IN" dirty="0"/>
              <a:t>This model enables continuous system observation and automatic recovery.</a:t>
            </a:r>
            <a:br>
              <a:rPr lang="en-IN" dirty="0"/>
            </a:br>
            <a:endParaRPr lang="en-IN" dirty="0"/>
          </a:p>
          <a:p>
            <a:r>
              <a:rPr lang="en-IN" b="1" dirty="0">
                <a:solidFill>
                  <a:srgbClr val="FF0000"/>
                </a:solidFill>
              </a:rPr>
              <a:t>Steps</a:t>
            </a:r>
          </a:p>
          <a:p>
            <a:r>
              <a:rPr lang="en-IN" dirty="0"/>
              <a:t>- Develop SaaS microservices application</a:t>
            </a:r>
          </a:p>
          <a:p>
            <a:r>
              <a:rPr lang="en-IN" dirty="0"/>
              <a:t>- Containerize services using Docker</a:t>
            </a:r>
          </a:p>
          <a:p>
            <a:r>
              <a:rPr lang="en-IN" dirty="0"/>
              <a:t>- Set up CI/CD pipeline for deployment</a:t>
            </a:r>
          </a:p>
          <a:p>
            <a:r>
              <a:rPr lang="en-IN" dirty="0"/>
              <a:t>- Implement monitoring agents</a:t>
            </a:r>
          </a:p>
          <a:p>
            <a:r>
              <a:rPr lang="en-IN" dirty="0"/>
              <a:t>- Train ML anomaly detection model</a:t>
            </a:r>
          </a:p>
          <a:p>
            <a:r>
              <a:rPr lang="en-IN" dirty="0"/>
              <a:t>- Integrate self-healing logic</a:t>
            </a:r>
          </a:p>
          <a:p>
            <a:r>
              <a:rPr lang="en-IN" dirty="0"/>
              <a:t>- Test using load and failure scenarios</a:t>
            </a:r>
          </a:p>
          <a:p>
            <a:endParaRPr lang="en-IN" dirty="0"/>
          </a:p>
          <a:p>
            <a:r>
              <a:rPr lang="en-IN" b="1" dirty="0">
                <a:solidFill>
                  <a:srgbClr val="FF0000"/>
                </a:solidFill>
              </a:rPr>
              <a:t>Timeline</a:t>
            </a:r>
          </a:p>
          <a:p>
            <a:r>
              <a:rPr lang="en-IN" dirty="0"/>
              <a:t>Phase 1 — Application development</a:t>
            </a:r>
          </a:p>
          <a:p>
            <a:r>
              <a:rPr lang="en-IN" dirty="0"/>
              <a:t>Phase 2 — Microservices &amp; containers</a:t>
            </a:r>
          </a:p>
          <a:p>
            <a:r>
              <a:rPr lang="en-IN" dirty="0"/>
              <a:t>Phase 3 — CI/CD &amp; cloud deployment</a:t>
            </a:r>
          </a:p>
          <a:p>
            <a:r>
              <a:rPr lang="en-IN" dirty="0"/>
              <a:t>Phase 4 — Agent monitoring system</a:t>
            </a:r>
          </a:p>
          <a:p>
            <a:r>
              <a:rPr lang="en-IN" dirty="0"/>
              <a:t>Phase 5 — ML integration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94F714-AF49-A6DD-21D5-A9F72016C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4703" y="2177009"/>
            <a:ext cx="5863596" cy="4214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667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543041" y="1206626"/>
            <a:ext cx="1140014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1. On Microservices &amp; Cloud-Native Architecture</a:t>
            </a:r>
          </a:p>
          <a:p>
            <a:r>
              <a:rPr lang="en-US" dirty="0"/>
              <a:t>- These papers provide the theoretical backing for why you chose a microservices approach for fault isolation.</a:t>
            </a:r>
          </a:p>
          <a:p>
            <a:r>
              <a:rPr lang="en-US" b="1" dirty="0"/>
              <a:t>- </a:t>
            </a:r>
            <a:r>
              <a:rPr lang="en-US" b="1" dirty="0" err="1"/>
              <a:t>Dragoni</a:t>
            </a:r>
            <a:r>
              <a:rPr lang="en-US" b="1" dirty="0"/>
              <a:t>, N., et al. (2017).</a:t>
            </a:r>
            <a:r>
              <a:rPr lang="en-US" dirty="0"/>
              <a:t> </a:t>
            </a:r>
            <a:r>
              <a:rPr lang="en-US" i="1" dirty="0"/>
              <a:t>"Microservices: Yesterday, Today, and Tomorrow."</a:t>
            </a:r>
            <a:r>
              <a:rPr lang="en-US" dirty="0"/>
              <a:t> * </a:t>
            </a:r>
            <a:r>
              <a:rPr lang="en-US" b="1" dirty="0"/>
              <a:t>Why:</a:t>
            </a:r>
            <a:r>
              <a:rPr lang="en-US" dirty="0"/>
              <a:t> A foundational text that explains the transition from monoliths to microservices, emphasizing independent </a:t>
            </a:r>
            <a:r>
              <a:rPr lang="en-US" dirty="0" err="1"/>
              <a:t>deployability</a:t>
            </a:r>
            <a:r>
              <a:rPr lang="en-US" dirty="0"/>
              <a:t> and scalability—key themes of your Layer 1.</a:t>
            </a:r>
          </a:p>
          <a:p>
            <a:r>
              <a:rPr lang="en-US" b="1" dirty="0"/>
              <a:t>- Lewis, J., &amp; Fowler, M. (2014).</a:t>
            </a:r>
            <a:r>
              <a:rPr lang="en-US" dirty="0"/>
              <a:t> </a:t>
            </a:r>
            <a:r>
              <a:rPr lang="en-US" i="1" dirty="0"/>
              <a:t>"Microservices: A definition of this new architectural term."</a:t>
            </a:r>
            <a:endParaRPr lang="en-US" dirty="0"/>
          </a:p>
          <a:p>
            <a:pPr lvl="1"/>
            <a:r>
              <a:rPr lang="en-US" b="1" dirty="0"/>
              <a:t>Why:</a:t>
            </a:r>
            <a:r>
              <a:rPr lang="en-US" dirty="0"/>
              <a:t> While technically a detailed article/whitepaper, it is the industry-standard definition used in academic citations to justify microservice patterns.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2. On Self-Healing &amp; Autonomic Computing</a:t>
            </a:r>
          </a:p>
          <a:p>
            <a:r>
              <a:rPr lang="en-US" dirty="0"/>
              <a:t>- Since ARES is an "Autonomous Reliability Engineering System," you are essentially implementing an </a:t>
            </a:r>
            <a:r>
              <a:rPr lang="en-US" b="1" dirty="0"/>
              <a:t>IBM MAPE-K loop</a:t>
            </a:r>
            <a:r>
              <a:rPr lang="en-US" dirty="0"/>
              <a:t> (Monitor-Analyze-Plan-Execute).</a:t>
            </a:r>
          </a:p>
          <a:p>
            <a:r>
              <a:rPr lang="en-US" b="1" dirty="0"/>
              <a:t>- Kephart, J. O., &amp; Chess, D. M. (2003).</a:t>
            </a:r>
            <a:r>
              <a:rPr lang="en-US" dirty="0"/>
              <a:t> </a:t>
            </a:r>
            <a:r>
              <a:rPr lang="en-US" i="1" dirty="0"/>
              <a:t>"The Vision of Autonomic Computing."</a:t>
            </a:r>
            <a:r>
              <a:rPr lang="en-US" dirty="0"/>
              <a:t> (IEEE Computer).</a:t>
            </a:r>
          </a:p>
          <a:p>
            <a:pPr lvl="1"/>
            <a:r>
              <a:rPr lang="en-US" b="1" dirty="0"/>
              <a:t>Why:</a:t>
            </a:r>
            <a:r>
              <a:rPr lang="en-US" dirty="0"/>
              <a:t> This is the most famous paper on self-healing systems. It introduces the idea of systems that manage themselves based on high-level objectives.</a:t>
            </a:r>
          </a:p>
          <a:p>
            <a:r>
              <a:rPr lang="en-US" b="1" dirty="0"/>
              <a:t>- </a:t>
            </a:r>
            <a:r>
              <a:rPr lang="en-US" b="1" dirty="0" err="1"/>
              <a:t>Weyns</a:t>
            </a:r>
            <a:r>
              <a:rPr lang="en-US" b="1" dirty="0"/>
              <a:t>, D. (2017).</a:t>
            </a:r>
            <a:r>
              <a:rPr lang="en-US" dirty="0"/>
              <a:t> </a:t>
            </a:r>
            <a:r>
              <a:rPr lang="en-US" i="1" dirty="0"/>
              <a:t>"Software Engineering of Self-Adaptive Systems."</a:t>
            </a:r>
            <a:endParaRPr lang="en-US" dirty="0"/>
          </a:p>
          <a:p>
            <a:pPr lvl="1"/>
            <a:r>
              <a:rPr lang="en-US" b="1" dirty="0"/>
              <a:t>Why:</a:t>
            </a:r>
            <a:r>
              <a:rPr lang="en-US" dirty="0"/>
              <a:t> Provides a roadmap for how agents (like your Healing and Health agents) can systematically adapt to environment changes.</a:t>
            </a:r>
          </a:p>
        </p:txBody>
      </p:sp>
    </p:spTree>
    <p:extLst>
      <p:ext uri="{BB962C8B-B14F-4D97-AF65-F5344CB8AC3E}">
        <p14:creationId xmlns:p14="http://schemas.microsoft.com/office/powerpoint/2010/main" val="1359081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17574-C507-3ED4-2B6D-F5B31B455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8A14F0-B4BB-43E7-C6DC-32838D911080}"/>
              </a:ext>
            </a:extLst>
          </p:cNvPr>
          <p:cNvSpPr txBox="1"/>
          <p:nvPr/>
        </p:nvSpPr>
        <p:spPr>
          <a:xfrm>
            <a:off x="32592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13CBF3-E738-ED0E-9CD8-342A9AF64423}"/>
              </a:ext>
            </a:extLst>
          </p:cNvPr>
          <p:cNvSpPr txBox="1"/>
          <p:nvPr/>
        </p:nvSpPr>
        <p:spPr>
          <a:xfrm>
            <a:off x="720322" y="948690"/>
            <a:ext cx="1070967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3. On ML-Based Anomaly Detection</a:t>
            </a:r>
          </a:p>
          <a:p>
            <a:r>
              <a:rPr lang="en-US" dirty="0"/>
              <a:t>- Your use of Isolation Forests or threshold models for system metrics is a hot topic in "AIOps."</a:t>
            </a:r>
          </a:p>
          <a:p>
            <a:r>
              <a:rPr lang="en-US" b="1" dirty="0"/>
              <a:t>- Liu, F. T., Ting, K. M., &amp; Zhou, Z. H. (2008).</a:t>
            </a:r>
            <a:r>
              <a:rPr lang="en-US" dirty="0"/>
              <a:t> </a:t>
            </a:r>
            <a:r>
              <a:rPr lang="en-US" i="1" dirty="0"/>
              <a:t>"Isolation Forest."</a:t>
            </a:r>
            <a:r>
              <a:rPr lang="en-US" dirty="0"/>
              <a:t> (IEEE International Conference on Data Mining).</a:t>
            </a:r>
          </a:p>
          <a:p>
            <a:pPr lvl="1"/>
            <a:r>
              <a:rPr lang="en-US" b="1" dirty="0"/>
              <a:t>Why:</a:t>
            </a:r>
            <a:r>
              <a:rPr lang="en-US" dirty="0"/>
              <a:t> Since you mentioned Isolation Forest in Section 7, citing the original creators of the algorithm is essential.</a:t>
            </a:r>
          </a:p>
          <a:p>
            <a:r>
              <a:rPr lang="en-US" b="1" dirty="0"/>
              <a:t>- Chandola, V., Banerjee, A., &amp; Kumar, V. (2009).</a:t>
            </a:r>
            <a:r>
              <a:rPr lang="en-US" dirty="0"/>
              <a:t> </a:t>
            </a:r>
            <a:r>
              <a:rPr lang="en-US" i="1" dirty="0"/>
              <a:t>"Anomaly Detection: A Survey."</a:t>
            </a:r>
            <a:r>
              <a:rPr lang="en-US" dirty="0"/>
              <a:t> (ACM Computing Surveys).</a:t>
            </a:r>
          </a:p>
          <a:p>
            <a:pPr lvl="1"/>
            <a:r>
              <a:rPr lang="en-US" b="1" dirty="0"/>
              <a:t>Why:</a:t>
            </a:r>
            <a:r>
              <a:rPr lang="en-US" dirty="0"/>
              <a:t> A massive, highly-cited overview that justifies why you chose specific detection methods for system logs and metrics.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4. On Reliability &amp; Chaos Engineering</a:t>
            </a:r>
          </a:p>
          <a:p>
            <a:r>
              <a:rPr lang="en-US" dirty="0"/>
              <a:t>- Your project uses load testing (Locust) and manual service killing to prove reliability, which is the core of Chaos Engineering.</a:t>
            </a:r>
          </a:p>
          <a:p>
            <a:r>
              <a:rPr lang="en-US" b="1" dirty="0"/>
              <a:t>- Basiri, A., et al. (2016).</a:t>
            </a:r>
            <a:r>
              <a:rPr lang="en-US" dirty="0"/>
              <a:t> </a:t>
            </a:r>
            <a:r>
              <a:rPr lang="en-US" i="1" dirty="0"/>
              <a:t>"Chaos Engineering."</a:t>
            </a:r>
            <a:r>
              <a:rPr lang="en-US" dirty="0"/>
              <a:t> (IEEE Software).</a:t>
            </a:r>
          </a:p>
          <a:p>
            <a:pPr lvl="1"/>
            <a:r>
              <a:rPr lang="en-US" b="1" dirty="0"/>
              <a:t>Why:</a:t>
            </a:r>
            <a:r>
              <a:rPr lang="en-US" dirty="0"/>
              <a:t> Written by the team at Netflix, this paper defines the discipline of "experimenting on a distributed system in order to build confidence in the system’s capability to withstand turbulent conditions."</a:t>
            </a:r>
          </a:p>
          <a:p>
            <a:r>
              <a:rPr lang="en-US" b="1" dirty="0"/>
              <a:t>- </a:t>
            </a:r>
            <a:r>
              <a:rPr lang="en-US" b="1" dirty="0" err="1"/>
              <a:t>Heorhiadi</a:t>
            </a:r>
            <a:r>
              <a:rPr lang="en-US" b="1" dirty="0"/>
              <a:t>, V., et al. (2016).</a:t>
            </a:r>
            <a:r>
              <a:rPr lang="en-US" dirty="0"/>
              <a:t> </a:t>
            </a:r>
            <a:r>
              <a:rPr lang="en-US" i="1" dirty="0"/>
              <a:t>"Gremlin: Systematic Resilience Testing of Microservices."</a:t>
            </a:r>
            <a:endParaRPr lang="en-US" dirty="0"/>
          </a:p>
          <a:p>
            <a:pPr lvl="1"/>
            <a:r>
              <a:rPr lang="en-US" b="1" dirty="0"/>
              <a:t>Why:</a:t>
            </a:r>
            <a:r>
              <a:rPr lang="en-US" dirty="0"/>
              <a:t> Focuses specifically on testing microservice failures, which mirrors your "Final Project Demo Flow."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863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9D82EA-6098-704F-AD4D-D13A499C492D}"/>
              </a:ext>
            </a:extLst>
          </p:cNvPr>
          <p:cNvSpPr txBox="1"/>
          <p:nvPr/>
        </p:nvSpPr>
        <p:spPr>
          <a:xfrm>
            <a:off x="1895294" y="3601496"/>
            <a:ext cx="84014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IN" sz="7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FBB1AB-6227-0A49-9677-D759BB97E908}"/>
              </a:ext>
            </a:extLst>
          </p:cNvPr>
          <p:cNvSpPr/>
          <p:nvPr/>
        </p:nvSpPr>
        <p:spPr>
          <a:xfrm>
            <a:off x="10668000" y="150471"/>
            <a:ext cx="1381246" cy="682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3B91EF5-66BF-4A12-80C1-98869846E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880" y="1709987"/>
            <a:ext cx="4206240" cy="180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348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12386</TotalTime>
  <Words>1182</Words>
  <Application>Microsoft Office PowerPoint</Application>
  <PresentationFormat>Widescreen</PresentationFormat>
  <Paragraphs>121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Stuti Gandhi</dc:creator>
  <cp:lastModifiedBy>Nitanshu Tak</cp:lastModifiedBy>
  <cp:revision>576</cp:revision>
  <dcterms:created xsi:type="dcterms:W3CDTF">2021-05-06T09:42:21Z</dcterms:created>
  <dcterms:modified xsi:type="dcterms:W3CDTF">2026-02-04T17:14:14Z</dcterms:modified>
</cp:coreProperties>
</file>